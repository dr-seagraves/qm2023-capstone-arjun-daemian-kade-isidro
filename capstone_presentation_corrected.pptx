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ECF0F1"/>
                </a:solidFill>
              </a:defRPr>
            </a:pPr>
            <a:r>
              <a:t>Corruption, Risk &amp; Foreign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BDC3C7"/>
                </a:solidFill>
              </a:defRPr>
            </a:pPr>
            <a:r>
              <a:t>QM 2023 Capstone Project</a:t>
            </a:r>
            <a:br/>
            <a:r>
              <a:t>Arjun • Daemian • Kade • Isidro</a:t>
            </a:r>
            <a:br/>
            <a:r>
              <a:t>Corrected Analysis (2026-04-29)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Research Question (Refined)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How do perceived corruption and geopolitical risk affect foreign direct investment?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Originally Planned: Included crime data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Actually Analyzed: CPI + GEPU (crime excluded due to time-invariance)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Focus: Causal inference using panel econometric methods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with emphasis on methodological constraints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Data Sources &amp; Coverage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Sample: 20 countries, 13 years (2012-2024), 237 country-year observations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Data Sources: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Corruption Perceptions Index (CPI) – Transparency International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Geopolitical Risk Index (GEPU) – Caldara &amp; Iacoviello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Foreign Direct Investment (FDI) – World Bank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Crime Index – Numbeo (collected but see next slide)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Outcome: FDI inflows (signed-log transformation)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Crime Data: Why We Couldn't Use 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Problem: Crime is time-invariant within countries (e.g., US consistently ~40-45)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Why This Matters in Fixed Effects Models: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Country fixed effects already capture all time-invariant differences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Crime became perfectly collinear with country dummies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Result: VIF = 6.56 (model fails to estimate)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Solution: Excluded from main analysis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But kept in robustness checks and Random Forest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See CRIME_DATA_METHODOLOGY.md for full details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M2: Exploratory Data Analysis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Approach: Correlation, time-series plots, group heterogeneity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Key Findings: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Weak negative correlation: CPI vs FDI (r ≈ -0.14)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Suggested optimal lag: 12 years (for economic relationship)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China an outlier: much higher average CPI than peers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Crime 'not an important factor' in exploratory correlation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Data Quality Flags: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Some countries missing 2025 data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China heterogeneity noted as potential issue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M3: Econometric Specification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Model: Two-way fixed effects (country + year dummies)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Key Design Decisions: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Outcome: fdi_slog (signed-log transform; handles negative values)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Main driver: cpi_score_lag1 (one-year lag CPI)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Control: gepu (geopolitical uncertainty; time-varying)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Robust SEs: Clustered at country level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Lag Specification Issue: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M2 identified lag=12 as optimal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But only 13 years of data ⟹ lag 12 = zero observations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Tested lags 1, 2, 3 as feasible alternatives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M3: Primary Findings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Model A: Two-Way Fixed Effects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CPI Effect (main hypothesis):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Coefficient: -0.1135  |  p-value: 0.4238  |  NOT SIGNIFICANT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GEPU Effect (risk control):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Coefficient: -0.0159  |  p-value: 0.1876  |  NOT SIGNIFICANT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Model Fit: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Within R² = 0.0149 (only 1.5% of variation explained)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Suggests major omitted drivers (macro conditions, trade policy, etc.)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Critical Instability: 2020 Pandemic Shock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Baseline Model (with 2020): coef = -0.1135, p = 0.4238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Excluding 2020 (just COVID year): coef = -0.0010, p = 0.9950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What This Means: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99% coefficient reduction when pandemic year removed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Effect collapses to statistically zero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Suggests results dominated by COVID-era FDI shocks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Implication: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Model captures crisis dynamics, NOT stable corruption-FDI relationship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Causal interpretation NOT justified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Need longer sample covering multiple normal economic regimes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Robustness Checks: What Held Up?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Alternative Lags (1, 2, 3 years):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All negative, but all non-significant (p &gt; 0.15)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Sign direction stable; magnitude not robust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Crime-Based Subsamples: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Low-crime countries: coef = -0.168, p = 0.753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High-crime countries: coef = -0.001, p = 0.999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No significant heterogeneity detected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Clustered vs. Unclustered SEs: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Conclusion unchanged under both covariance assumptions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Limitations &amp; Caveats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Omitted Variables (major FDI drivers missing):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GDP growth, exchange rates, interest rates, commodity prices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Trade openness, infrastructure quality, tax policy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Measurement Error: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CPI perception-based; Crime data Numbeo-sourced; GEPU broad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External Validity: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Only 20 countries with complete overlap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Results may not generalize to other regions/periods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Endogeneity: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FDI may improve governance, not just vice versa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Conclusions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Finding: Corruption (CPI) effect on FDI is NOT statistically significant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and highly unstable (driven by 2020 pandemic shock)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Policy Implication: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Corruption reform matters for governance, but: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FDI also depends on macro stability, uncertainty, and broader institutions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Anti-corruption alone won't substantially increase investment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Methodological Learning: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Criminal data collected but inapplicable in FE framework (time-invariant)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Data constraints forced lag compromise (wanted 12, got 1)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Short panel with major shocks = weak causal inference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Recommendations for Future 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Extend Data: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Add 15-20 years of historical data (pre-2012) to test lag-12 relationship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Reduce relative weight of 2020 crisis year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Add Macro Controls: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Include real interest rates, exchange rates, GDP growth, commodity prices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Alternative Methods: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Use instrumental variables if valid instruments found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Run Random Effects (RE) models to estimate crime effects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Investigate 2020 structural break separately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Qualitative Research: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Interview investors on actual corruption-FDI linkage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Key Takeaway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What We Learned: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Corruption matters qualitatively for investor confidence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But quantitative causal effect NOT detected in this short panel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Why?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Pandemic dominated recent decade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Missing macro drivers (interest rates, growth, trade)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Optimal lag (12 years) unattainable with 13-year sample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Next Steps: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Get longer data + macro controls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Then revisit causal question with more confidence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This analysis is exploratory foundation, not final answer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