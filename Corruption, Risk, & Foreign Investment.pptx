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93C217-AD8D-432B-B5CE-CEBC589ACF43}" v="3" dt="2026-05-01T16:17:32.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4660"/>
  </p:normalViewPr>
  <p:slideViewPr>
    <p:cSldViewPr snapToGrid="0">
      <p:cViewPr varScale="1">
        <p:scale>
          <a:sx n="54" d="100"/>
          <a:sy n="54" d="100"/>
        </p:scale>
        <p:origin x="52"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7D432A-B0B2-4F90-9A58-B401304A0AC5}"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DAF744-791D-4239-82E4-926FFCB8BEB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89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7D432A-B0B2-4F90-9A58-B401304A0AC5}"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765793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7D432A-B0B2-4F90-9A58-B401304A0AC5}"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DAF744-791D-4239-82E4-926FFCB8BEB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74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7D432A-B0B2-4F90-9A58-B401304A0AC5}"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3964415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7D432A-B0B2-4F90-9A58-B401304A0AC5}"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2763276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7D432A-B0B2-4F90-9A58-B401304A0AC5}"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3235925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97D432A-B0B2-4F90-9A58-B401304A0AC5}" type="datetimeFigureOut">
              <a:rPr lang="en-US" smtClean="0"/>
              <a:t>5/1/2026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451794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97D432A-B0B2-4F90-9A58-B401304A0AC5}" type="datetimeFigureOut">
              <a:rPr lang="en-US" smtClean="0"/>
              <a:t>5/1/2026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EDAF744-791D-4239-82E4-926FFCB8BEBE}" type="slidenum">
              <a:rPr lang="en-US" smtClean="0"/>
              <a:t>‹#›</a:t>
            </a:fld>
            <a:endParaRPr lang="en-US"/>
          </a:p>
        </p:txBody>
      </p:sp>
    </p:spTree>
    <p:extLst>
      <p:ext uri="{BB962C8B-B14F-4D97-AF65-F5344CB8AC3E}">
        <p14:creationId xmlns:p14="http://schemas.microsoft.com/office/powerpoint/2010/main" val="69318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7D432A-B0B2-4F90-9A58-B401304A0AC5}"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54984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7D432A-B0B2-4F90-9A58-B401304A0AC5}"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355141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7D432A-B0B2-4F90-9A58-B401304A0AC5}"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DAF744-791D-4239-82E4-926FFCB8BEBE}" type="slidenum">
              <a:rPr lang="en-US" smtClean="0"/>
              <a:t>‹#›</a:t>
            </a:fld>
            <a:endParaRPr lang="en-US"/>
          </a:p>
        </p:txBody>
      </p:sp>
    </p:spTree>
    <p:extLst>
      <p:ext uri="{BB962C8B-B14F-4D97-AF65-F5344CB8AC3E}">
        <p14:creationId xmlns:p14="http://schemas.microsoft.com/office/powerpoint/2010/main" val="1562664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97D432A-B0B2-4F90-9A58-B401304A0AC5}" type="datetimeFigureOut">
              <a:rPr lang="en-US" smtClean="0"/>
              <a:t>5/1/2026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EDAF744-791D-4239-82E4-926FFCB8BEB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1564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74283-2792-57D3-E3F7-924385F2348D}"/>
              </a:ext>
            </a:extLst>
          </p:cNvPr>
          <p:cNvSpPr>
            <a:spLocks noGrp="1"/>
          </p:cNvSpPr>
          <p:nvPr>
            <p:ph type="ctrTitle"/>
          </p:nvPr>
        </p:nvSpPr>
        <p:spPr/>
        <p:txBody>
          <a:bodyPr>
            <a:normAutofit/>
          </a:bodyPr>
          <a:lstStyle/>
          <a:p>
            <a:r>
              <a:rPr lang="en-US" dirty="0"/>
              <a:t>Corruption, Risk, &amp; Foreign Investment</a:t>
            </a:r>
          </a:p>
        </p:txBody>
      </p:sp>
      <p:sp>
        <p:nvSpPr>
          <p:cNvPr id="3" name="Subtitle 2">
            <a:extLst>
              <a:ext uri="{FF2B5EF4-FFF2-40B4-BE49-F238E27FC236}">
                <a16:creationId xmlns:a16="http://schemas.microsoft.com/office/drawing/2014/main" id="{6350AD50-BB1F-158E-8160-1C12731F7E44}"/>
              </a:ext>
            </a:extLst>
          </p:cNvPr>
          <p:cNvSpPr>
            <a:spLocks noGrp="1"/>
          </p:cNvSpPr>
          <p:nvPr>
            <p:ph type="subTitle" idx="1"/>
          </p:nvPr>
        </p:nvSpPr>
        <p:spPr/>
        <p:txBody>
          <a:bodyPr>
            <a:normAutofit fontScale="85000" lnSpcReduction="20000"/>
          </a:bodyPr>
          <a:lstStyle/>
          <a:p>
            <a:r>
              <a:rPr lang="en-US" dirty="0"/>
              <a:t>QM 2023 Capstone Project</a:t>
            </a:r>
          </a:p>
          <a:p>
            <a:r>
              <a:rPr lang="en-US" dirty="0"/>
              <a:t>Arjun Daemian Kade Isidro</a:t>
            </a:r>
          </a:p>
          <a:p>
            <a:r>
              <a:rPr lang="en-US" dirty="0"/>
              <a:t>Daemian’s attempt</a:t>
            </a:r>
          </a:p>
        </p:txBody>
      </p:sp>
    </p:spTree>
    <p:extLst>
      <p:ext uri="{BB962C8B-B14F-4D97-AF65-F5344CB8AC3E}">
        <p14:creationId xmlns:p14="http://schemas.microsoft.com/office/powerpoint/2010/main" val="165504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8A3B0-5C1C-ABD0-CC4E-1C0CEA09483B}"/>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9E428876-8FCB-1A20-E64F-765BDABBA9D6}"/>
              </a:ext>
            </a:extLst>
          </p:cNvPr>
          <p:cNvSpPr>
            <a:spLocks noGrp="1"/>
          </p:cNvSpPr>
          <p:nvPr>
            <p:ph idx="1"/>
          </p:nvPr>
        </p:nvSpPr>
        <p:spPr/>
        <p:txBody>
          <a:bodyPr/>
          <a:lstStyle/>
          <a:p>
            <a:r>
              <a:rPr lang="en-US" dirty="0"/>
              <a:t>How do perceived corruption and geopolitical risk affect foreign direct investment?</a:t>
            </a:r>
          </a:p>
          <a:p>
            <a:endParaRPr lang="en-US" dirty="0"/>
          </a:p>
          <a:p>
            <a:r>
              <a:rPr lang="en-US" dirty="0"/>
              <a:t>What was analyzed: CPI + GEPU</a:t>
            </a:r>
          </a:p>
          <a:p>
            <a:endParaRPr lang="en-US" dirty="0"/>
          </a:p>
          <a:p>
            <a:r>
              <a:rPr lang="en-US" dirty="0"/>
              <a:t>How was it analyzed: Causal inference using panel econometric methods, with an emphasis on methodological constraints</a:t>
            </a:r>
          </a:p>
        </p:txBody>
      </p:sp>
    </p:spTree>
    <p:extLst>
      <p:ext uri="{BB962C8B-B14F-4D97-AF65-F5344CB8AC3E}">
        <p14:creationId xmlns:p14="http://schemas.microsoft.com/office/powerpoint/2010/main" val="3821980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8602C-FAF2-F728-1774-AA70DC59EA5C}"/>
              </a:ext>
            </a:extLst>
          </p:cNvPr>
          <p:cNvSpPr>
            <a:spLocks noGrp="1"/>
          </p:cNvSpPr>
          <p:nvPr>
            <p:ph type="title"/>
          </p:nvPr>
        </p:nvSpPr>
        <p:spPr>
          <a:xfrm>
            <a:off x="1097280" y="1"/>
            <a:ext cx="10058400" cy="1737360"/>
          </a:xfrm>
        </p:spPr>
        <p:txBody>
          <a:bodyPr>
            <a:normAutofit fontScale="90000"/>
          </a:bodyPr>
          <a:lstStyle/>
          <a:p>
            <a:br>
              <a:rPr lang="en-US" dirty="0"/>
            </a:br>
            <a:r>
              <a:rPr lang="en-US" dirty="0"/>
              <a:t>Data Sources</a:t>
            </a:r>
            <a:br>
              <a:rPr lang="en-US" dirty="0"/>
            </a:br>
            <a:endParaRPr lang="en-US" dirty="0"/>
          </a:p>
        </p:txBody>
      </p:sp>
      <p:sp>
        <p:nvSpPr>
          <p:cNvPr id="3" name="Content Placeholder 2">
            <a:extLst>
              <a:ext uri="{FF2B5EF4-FFF2-40B4-BE49-F238E27FC236}">
                <a16:creationId xmlns:a16="http://schemas.microsoft.com/office/drawing/2014/main" id="{AB15E36E-5CA8-B0BD-6D4E-9DFCE09AE639}"/>
              </a:ext>
            </a:extLst>
          </p:cNvPr>
          <p:cNvSpPr>
            <a:spLocks noGrp="1"/>
          </p:cNvSpPr>
          <p:nvPr>
            <p:ph idx="1"/>
          </p:nvPr>
        </p:nvSpPr>
        <p:spPr>
          <a:xfrm>
            <a:off x="838200" y="1401288"/>
            <a:ext cx="10515600" cy="4775675"/>
          </a:xfrm>
        </p:spPr>
        <p:txBody>
          <a:bodyPr/>
          <a:lstStyle/>
          <a:p>
            <a:r>
              <a:rPr lang="en-US" dirty="0"/>
              <a:t>Sample set of 20 countries over 13 years from 2012 to 2024, culminating in 237 observations</a:t>
            </a:r>
          </a:p>
          <a:p>
            <a:endParaRPr lang="en-US" dirty="0"/>
          </a:p>
          <a:p>
            <a:r>
              <a:rPr lang="en-US" dirty="0"/>
              <a:t>Sources:</a:t>
            </a:r>
          </a:p>
          <a:p>
            <a:pPr marL="457200" lvl="1" indent="0">
              <a:buNone/>
            </a:pPr>
            <a:r>
              <a:rPr lang="en-US" dirty="0"/>
              <a:t>Corruption Perceptions Index (CPI) – Transparency International</a:t>
            </a:r>
          </a:p>
          <a:p>
            <a:pPr marL="457200" lvl="1" indent="0">
              <a:buNone/>
            </a:pPr>
            <a:r>
              <a:rPr lang="en-US" dirty="0"/>
              <a:t>Geopolitical Risk Index (GEPU) – Caldara &amp; Iacoviello</a:t>
            </a:r>
          </a:p>
          <a:p>
            <a:pPr marL="457200" lvl="1" indent="0">
              <a:buNone/>
            </a:pPr>
            <a:r>
              <a:rPr lang="en-US" dirty="0"/>
              <a:t>Foreign Direct Investment (FDI) – World Bank</a:t>
            </a:r>
          </a:p>
          <a:p>
            <a:pPr marL="457200" lvl="1" indent="0">
              <a:buNone/>
            </a:pPr>
            <a:r>
              <a:rPr lang="en-US" dirty="0"/>
              <a:t>Crime Index – </a:t>
            </a:r>
            <a:r>
              <a:rPr lang="en-US" dirty="0" err="1"/>
              <a:t>Numbeo</a:t>
            </a:r>
            <a:r>
              <a:rPr lang="en-US" dirty="0"/>
              <a:t> (See Slide </a:t>
            </a:r>
          </a:p>
          <a:p>
            <a:endParaRPr lang="en-US" dirty="0"/>
          </a:p>
          <a:p>
            <a:r>
              <a:rPr lang="en-US" dirty="0"/>
              <a:t>Outcome: FDI inflows (signed-log transformation)</a:t>
            </a:r>
          </a:p>
        </p:txBody>
      </p:sp>
    </p:spTree>
    <p:extLst>
      <p:ext uri="{BB962C8B-B14F-4D97-AF65-F5344CB8AC3E}">
        <p14:creationId xmlns:p14="http://schemas.microsoft.com/office/powerpoint/2010/main" val="1930667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A77A4-98C9-346E-FEAF-C3AA7C87564A}"/>
              </a:ext>
            </a:extLst>
          </p:cNvPr>
          <p:cNvSpPr>
            <a:spLocks noGrp="1"/>
          </p:cNvSpPr>
          <p:nvPr>
            <p:ph type="title"/>
          </p:nvPr>
        </p:nvSpPr>
        <p:spPr/>
        <p:txBody>
          <a:bodyPr/>
          <a:lstStyle/>
          <a:p>
            <a:r>
              <a:rPr lang="en-US" dirty="0"/>
              <a:t>M2: Exploratory Data Analysis</a:t>
            </a:r>
          </a:p>
        </p:txBody>
      </p:sp>
      <p:sp>
        <p:nvSpPr>
          <p:cNvPr id="3" name="Content Placeholder 2">
            <a:extLst>
              <a:ext uri="{FF2B5EF4-FFF2-40B4-BE49-F238E27FC236}">
                <a16:creationId xmlns:a16="http://schemas.microsoft.com/office/drawing/2014/main" id="{C4310839-70F0-D8CB-94E4-4767BC6EF459}"/>
              </a:ext>
            </a:extLst>
          </p:cNvPr>
          <p:cNvSpPr>
            <a:spLocks noGrp="1"/>
          </p:cNvSpPr>
          <p:nvPr>
            <p:ph sz="half" idx="1"/>
          </p:nvPr>
        </p:nvSpPr>
        <p:spPr/>
        <p:txBody>
          <a:bodyPr>
            <a:normAutofit fontScale="92500" lnSpcReduction="10000"/>
          </a:bodyPr>
          <a:lstStyle/>
          <a:p>
            <a:r>
              <a:rPr lang="en-US" sz="1800" dirty="0"/>
              <a:t>Approach: Correlation, time-series plots, group heterogeneity</a:t>
            </a:r>
          </a:p>
          <a:p>
            <a:endParaRPr lang="en-US" sz="1800" dirty="0"/>
          </a:p>
          <a:p>
            <a:r>
              <a:rPr lang="en-US" sz="1800" dirty="0"/>
              <a:t>Key Findings:</a:t>
            </a:r>
          </a:p>
          <a:p>
            <a:pPr marL="457200" lvl="1" indent="0">
              <a:buNone/>
            </a:pPr>
            <a:r>
              <a:rPr lang="en-US" sz="1400" dirty="0"/>
              <a:t>Weak positive correlation between CPI and FDI (r ≈ 0.14)</a:t>
            </a:r>
          </a:p>
          <a:p>
            <a:pPr marL="457200" lvl="1" indent="0">
              <a:buNone/>
            </a:pPr>
            <a:r>
              <a:rPr lang="en-US" sz="1400" dirty="0"/>
              <a:t>Suggested optimal lag: 12 for economic relationships (later shown infeasible)</a:t>
            </a:r>
          </a:p>
          <a:p>
            <a:pPr marL="457200" lvl="1" indent="0">
              <a:buNone/>
            </a:pPr>
            <a:r>
              <a:rPr lang="en-US" sz="1400" dirty="0"/>
              <a:t>China as outlier: much higher CPI than other data points</a:t>
            </a:r>
          </a:p>
          <a:p>
            <a:pPr marL="457200" lvl="1" indent="0">
              <a:buNone/>
            </a:pPr>
            <a:r>
              <a:rPr lang="en-US" sz="1400" dirty="0"/>
              <a:t>Crime no longer considered an important factor within exploratory correlation</a:t>
            </a:r>
          </a:p>
          <a:p>
            <a:pPr marL="0" indent="0">
              <a:buNone/>
            </a:pPr>
            <a:endParaRPr lang="en-US" sz="1800" dirty="0"/>
          </a:p>
          <a:p>
            <a:r>
              <a:rPr lang="en-US" sz="1800" dirty="0"/>
              <a:t>Data Quality Flags</a:t>
            </a:r>
          </a:p>
          <a:p>
            <a:pPr marL="457200" lvl="1" indent="0">
              <a:buNone/>
            </a:pPr>
            <a:r>
              <a:rPr lang="en-US" sz="1400" dirty="0"/>
              <a:t>Some countries missing 2025 data, led to analysis of 2012 to 2024 instead of 2025</a:t>
            </a:r>
          </a:p>
          <a:p>
            <a:pPr marL="457200" lvl="1" indent="0">
              <a:buNone/>
            </a:pPr>
            <a:r>
              <a:rPr lang="en-US" sz="1400" dirty="0"/>
              <a:t>China’s heterogeneity was noted as a potential issue.</a:t>
            </a:r>
          </a:p>
        </p:txBody>
      </p:sp>
      <p:pic>
        <p:nvPicPr>
          <p:cNvPr id="8" name="Content Placeholder 7">
            <a:extLst>
              <a:ext uri="{FF2B5EF4-FFF2-40B4-BE49-F238E27FC236}">
                <a16:creationId xmlns:a16="http://schemas.microsoft.com/office/drawing/2014/main" id="{AE8FF5D6-76EF-2A01-7127-6F2129EB806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18238" y="2516955"/>
            <a:ext cx="4937125" cy="2681340"/>
          </a:xfrm>
          <a:prstGeom prst="rect">
            <a:avLst/>
          </a:prstGeom>
        </p:spPr>
      </p:pic>
    </p:spTree>
    <p:extLst>
      <p:ext uri="{BB962C8B-B14F-4D97-AF65-F5344CB8AC3E}">
        <p14:creationId xmlns:p14="http://schemas.microsoft.com/office/powerpoint/2010/main" val="66528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327C5-AD21-B37A-8A1D-6163D855B842}"/>
              </a:ext>
            </a:extLst>
          </p:cNvPr>
          <p:cNvSpPr>
            <a:spLocks noGrp="1"/>
          </p:cNvSpPr>
          <p:nvPr>
            <p:ph type="title"/>
          </p:nvPr>
        </p:nvSpPr>
        <p:spPr/>
        <p:txBody>
          <a:bodyPr/>
          <a:lstStyle/>
          <a:p>
            <a:r>
              <a:rPr lang="en-US" dirty="0"/>
              <a:t>M3: Econometric Specification</a:t>
            </a:r>
          </a:p>
        </p:txBody>
      </p:sp>
      <p:sp>
        <p:nvSpPr>
          <p:cNvPr id="3" name="Content Placeholder 2">
            <a:extLst>
              <a:ext uri="{FF2B5EF4-FFF2-40B4-BE49-F238E27FC236}">
                <a16:creationId xmlns:a16="http://schemas.microsoft.com/office/drawing/2014/main" id="{2A23C4F5-37E2-510D-1841-6CC4D28CE43D}"/>
              </a:ext>
            </a:extLst>
          </p:cNvPr>
          <p:cNvSpPr>
            <a:spLocks noGrp="1"/>
          </p:cNvSpPr>
          <p:nvPr>
            <p:ph idx="1"/>
          </p:nvPr>
        </p:nvSpPr>
        <p:spPr/>
        <p:txBody>
          <a:bodyPr>
            <a:noAutofit/>
          </a:bodyPr>
          <a:lstStyle/>
          <a:p>
            <a:r>
              <a:rPr lang="en-US" sz="2400" dirty="0"/>
              <a:t>Model: Two-way fixed effects (country + year dummy variables)</a:t>
            </a:r>
          </a:p>
          <a:p>
            <a:endParaRPr lang="en-US" sz="2400" dirty="0"/>
          </a:p>
          <a:p>
            <a:r>
              <a:rPr lang="en-US" sz="2400" dirty="0"/>
              <a:t>Key Design Decisions:</a:t>
            </a:r>
          </a:p>
          <a:p>
            <a:pPr marL="457200" lvl="1" indent="0">
              <a:buNone/>
            </a:pPr>
            <a:r>
              <a:rPr lang="en-US" dirty="0"/>
              <a:t>Outcome: </a:t>
            </a:r>
            <a:r>
              <a:rPr lang="en-US" dirty="0" err="1"/>
              <a:t>fdi_slog</a:t>
            </a:r>
            <a:r>
              <a:rPr lang="en-US" dirty="0"/>
              <a:t> (signed-log transform; handles negative values)</a:t>
            </a:r>
          </a:p>
          <a:p>
            <a:pPr marL="457200" lvl="1" indent="0">
              <a:buNone/>
            </a:pPr>
            <a:r>
              <a:rPr lang="en-US" dirty="0"/>
              <a:t>Main driver: cpi_score_lag1 (one-year lag CPI)</a:t>
            </a:r>
          </a:p>
          <a:p>
            <a:pPr marL="457200" lvl="1" indent="0">
              <a:buNone/>
            </a:pPr>
            <a:r>
              <a:rPr lang="en-US" dirty="0"/>
              <a:t>Control: </a:t>
            </a:r>
            <a:r>
              <a:rPr lang="en-US" dirty="0" err="1"/>
              <a:t>gepu</a:t>
            </a:r>
            <a:r>
              <a:rPr lang="en-US" dirty="0"/>
              <a:t> (geopolitical uncertainty; time-varying)</a:t>
            </a:r>
          </a:p>
          <a:p>
            <a:pPr marL="457200" lvl="1" indent="0">
              <a:buNone/>
            </a:pPr>
            <a:r>
              <a:rPr lang="en-US" dirty="0"/>
              <a:t>Robust Ses: Clustered at country level</a:t>
            </a:r>
          </a:p>
          <a:p>
            <a:r>
              <a:rPr lang="en-US" sz="2400" dirty="0"/>
              <a:t>Lag Specification Issue:</a:t>
            </a:r>
          </a:p>
          <a:p>
            <a:pPr marL="457200" lvl="1" indent="0">
              <a:buNone/>
            </a:pPr>
            <a:r>
              <a:rPr lang="en-US" dirty="0"/>
              <a:t>M2 identified lag=12 as optimal, but only 13 years of observable data meant that a 12-year lag would remove all observations. Instead, 1-, 2-, and 3-year lags were tested as alternatives</a:t>
            </a:r>
          </a:p>
        </p:txBody>
      </p:sp>
    </p:spTree>
    <p:extLst>
      <p:ext uri="{BB962C8B-B14F-4D97-AF65-F5344CB8AC3E}">
        <p14:creationId xmlns:p14="http://schemas.microsoft.com/office/powerpoint/2010/main" val="336990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C5FB-23AE-868B-2F8B-B09D2ACD420A}"/>
              </a:ext>
            </a:extLst>
          </p:cNvPr>
          <p:cNvSpPr>
            <a:spLocks noGrp="1"/>
          </p:cNvSpPr>
          <p:nvPr>
            <p:ph type="title"/>
          </p:nvPr>
        </p:nvSpPr>
        <p:spPr/>
        <p:txBody>
          <a:bodyPr/>
          <a:lstStyle/>
          <a:p>
            <a:r>
              <a:rPr lang="en-US" dirty="0"/>
              <a:t>M3 Primary Findings</a:t>
            </a:r>
          </a:p>
        </p:txBody>
      </p:sp>
      <p:sp>
        <p:nvSpPr>
          <p:cNvPr id="3" name="Content Placeholder 2">
            <a:extLst>
              <a:ext uri="{FF2B5EF4-FFF2-40B4-BE49-F238E27FC236}">
                <a16:creationId xmlns:a16="http://schemas.microsoft.com/office/drawing/2014/main" id="{DD5BE890-F8FC-85A5-FEBF-D7042970764E}"/>
              </a:ext>
            </a:extLst>
          </p:cNvPr>
          <p:cNvSpPr>
            <a:spLocks noGrp="1"/>
          </p:cNvSpPr>
          <p:nvPr>
            <p:ph sz="half" idx="1"/>
          </p:nvPr>
        </p:nvSpPr>
        <p:spPr/>
        <p:txBody>
          <a:bodyPr>
            <a:normAutofit/>
          </a:bodyPr>
          <a:lstStyle/>
          <a:p>
            <a:r>
              <a:rPr lang="en-US" dirty="0"/>
              <a:t>Model A: Two-way fixed effects</a:t>
            </a:r>
          </a:p>
          <a:p>
            <a:endParaRPr lang="en-US" dirty="0"/>
          </a:p>
          <a:p>
            <a:r>
              <a:rPr lang="en-US" dirty="0"/>
              <a:t>Both CPI and GEPU were found to be not significant, answering the questions definitively.</a:t>
            </a:r>
          </a:p>
          <a:p>
            <a:endParaRPr lang="en-US" dirty="0"/>
          </a:p>
          <a:p>
            <a:r>
              <a:rPr lang="en-US" dirty="0"/>
              <a:t>The model itself was a bad fit, only explaining a small amount of variation and showing that the greatest drivers were not present in the data set</a:t>
            </a:r>
          </a:p>
        </p:txBody>
      </p:sp>
      <p:pic>
        <p:nvPicPr>
          <p:cNvPr id="6" name="Content Placeholder 5">
            <a:extLst>
              <a:ext uri="{FF2B5EF4-FFF2-40B4-BE49-F238E27FC236}">
                <a16:creationId xmlns:a16="http://schemas.microsoft.com/office/drawing/2014/main" id="{B546FD58-C80B-8B21-A7E7-82FE1B6B9BB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3238499"/>
          </a:xfrm>
          <a:prstGeom prst="rect">
            <a:avLst/>
          </a:prstGeom>
        </p:spPr>
      </p:pic>
      <p:sp>
        <p:nvSpPr>
          <p:cNvPr id="7" name="TextBox 6">
            <a:extLst>
              <a:ext uri="{FF2B5EF4-FFF2-40B4-BE49-F238E27FC236}">
                <a16:creationId xmlns:a16="http://schemas.microsoft.com/office/drawing/2014/main" id="{A211A1DF-342C-1685-7B3C-BCBB6E542188}"/>
              </a:ext>
            </a:extLst>
          </p:cNvPr>
          <p:cNvSpPr txBox="1"/>
          <p:nvPr/>
        </p:nvSpPr>
        <p:spPr>
          <a:xfrm>
            <a:off x="6768935" y="5415148"/>
            <a:ext cx="4584865" cy="923330"/>
          </a:xfrm>
          <a:prstGeom prst="rect">
            <a:avLst/>
          </a:prstGeom>
          <a:noFill/>
        </p:spPr>
        <p:txBody>
          <a:bodyPr wrap="square" rtlCol="0">
            <a:spAutoFit/>
          </a:bodyPr>
          <a:lstStyle/>
          <a:p>
            <a:r>
              <a:rPr lang="en-US" dirty="0"/>
              <a:t>Model B was no improvement, giving us slightly worse results with a loss of interpretability</a:t>
            </a:r>
          </a:p>
        </p:txBody>
      </p:sp>
    </p:spTree>
    <p:extLst>
      <p:ext uri="{BB962C8B-B14F-4D97-AF65-F5344CB8AC3E}">
        <p14:creationId xmlns:p14="http://schemas.microsoft.com/office/powerpoint/2010/main" val="4192687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CE4D2-4A1A-8827-20C5-B27C3A2515BE}"/>
              </a:ext>
            </a:extLst>
          </p:cNvPr>
          <p:cNvSpPr>
            <a:spLocks noGrp="1"/>
          </p:cNvSpPr>
          <p:nvPr>
            <p:ph type="title"/>
          </p:nvPr>
        </p:nvSpPr>
        <p:spPr/>
        <p:txBody>
          <a:bodyPr/>
          <a:lstStyle/>
          <a:p>
            <a:r>
              <a:rPr lang="en-US" dirty="0"/>
              <a:t>Possible Instability: 2020 Pandemic Shock</a:t>
            </a:r>
          </a:p>
        </p:txBody>
      </p:sp>
      <p:sp>
        <p:nvSpPr>
          <p:cNvPr id="3" name="Content Placeholder 2">
            <a:extLst>
              <a:ext uri="{FF2B5EF4-FFF2-40B4-BE49-F238E27FC236}">
                <a16:creationId xmlns:a16="http://schemas.microsoft.com/office/drawing/2014/main" id="{4DF49EA1-428D-47A0-601F-8BAE11233D07}"/>
              </a:ext>
            </a:extLst>
          </p:cNvPr>
          <p:cNvSpPr>
            <a:spLocks noGrp="1"/>
          </p:cNvSpPr>
          <p:nvPr>
            <p:ph idx="1"/>
          </p:nvPr>
        </p:nvSpPr>
        <p:spPr/>
        <p:txBody>
          <a:bodyPr/>
          <a:lstStyle/>
          <a:p>
            <a:pPr marL="0" indent="0">
              <a:buNone/>
            </a:pPr>
            <a:r>
              <a:rPr lang="en-US" dirty="0"/>
              <a:t>Baseline: coefficient = -0.2444, p = 0.1536</a:t>
            </a:r>
          </a:p>
          <a:p>
            <a:pPr marL="0" indent="0">
              <a:buNone/>
            </a:pPr>
            <a:r>
              <a:rPr lang="en-US" dirty="0"/>
              <a:t>Excluding 2020: coefficient = -0.2229, p = 0.3151</a:t>
            </a:r>
          </a:p>
          <a:p>
            <a:endParaRPr lang="en-US" dirty="0"/>
          </a:p>
          <a:p>
            <a:r>
              <a:rPr lang="en-US" dirty="0"/>
              <a:t>The coefficient reduction when the pandemic year is removed suggests that COVID had almost no real impact on our results. Regardless of this lack of shock, our results are still not significant and leave the conclusion unchanged.</a:t>
            </a:r>
          </a:p>
        </p:txBody>
      </p:sp>
    </p:spTree>
    <p:extLst>
      <p:ext uri="{BB962C8B-B14F-4D97-AF65-F5344CB8AC3E}">
        <p14:creationId xmlns:p14="http://schemas.microsoft.com/office/powerpoint/2010/main" val="1515807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E6E9F-873F-7CB9-A621-79602FF0C447}"/>
              </a:ext>
            </a:extLst>
          </p:cNvPr>
          <p:cNvSpPr>
            <a:spLocks noGrp="1"/>
          </p:cNvSpPr>
          <p:nvPr>
            <p:ph type="title"/>
          </p:nvPr>
        </p:nvSpPr>
        <p:spPr/>
        <p:txBody>
          <a:bodyPr/>
          <a:lstStyle/>
          <a:p>
            <a:r>
              <a:rPr lang="en-US" dirty="0"/>
              <a:t>Robustness Checks</a:t>
            </a:r>
          </a:p>
        </p:txBody>
      </p:sp>
      <p:sp>
        <p:nvSpPr>
          <p:cNvPr id="3" name="Content Placeholder 2">
            <a:extLst>
              <a:ext uri="{FF2B5EF4-FFF2-40B4-BE49-F238E27FC236}">
                <a16:creationId xmlns:a16="http://schemas.microsoft.com/office/drawing/2014/main" id="{C1580AEE-E21F-F7CF-37CB-4F12EB63A1DA}"/>
              </a:ext>
            </a:extLst>
          </p:cNvPr>
          <p:cNvSpPr>
            <a:spLocks noGrp="1"/>
          </p:cNvSpPr>
          <p:nvPr>
            <p:ph idx="1"/>
          </p:nvPr>
        </p:nvSpPr>
        <p:spPr/>
        <p:txBody>
          <a:bodyPr>
            <a:normAutofit/>
          </a:bodyPr>
          <a:lstStyle/>
          <a:p>
            <a:r>
              <a:rPr lang="en-US" dirty="0"/>
              <a:t>Alternative lags (1, 2, 3 years):</a:t>
            </a:r>
          </a:p>
          <a:p>
            <a:pPr marL="0" indent="0">
              <a:buNone/>
            </a:pPr>
            <a:r>
              <a:rPr lang="nn-NO" sz="2000" dirty="0"/>
              <a:t>	- Lag 1: coef = -0.1135, p = 0.4238</a:t>
            </a:r>
          </a:p>
          <a:p>
            <a:pPr marL="0" indent="0">
              <a:buNone/>
            </a:pPr>
            <a:r>
              <a:rPr lang="nn-NO" sz="2000" dirty="0"/>
              <a:t>	- Lag 2: coef = -0.1149, p = 0.4765</a:t>
            </a:r>
          </a:p>
          <a:p>
            <a:pPr marL="0" indent="0">
              <a:buNone/>
            </a:pPr>
            <a:r>
              <a:rPr lang="nn-NO" sz="2000" dirty="0"/>
              <a:t>	- Lag 3: coef = -0.2444, p = 0.1536</a:t>
            </a:r>
            <a:endParaRPr lang="en-US" sz="2000" dirty="0"/>
          </a:p>
          <a:p>
            <a:r>
              <a:rPr lang="en-US" dirty="0"/>
              <a:t>Crime-Based Subsamples:</a:t>
            </a:r>
          </a:p>
          <a:p>
            <a:pPr marL="457200" lvl="1" indent="0">
              <a:buNone/>
            </a:pPr>
            <a:r>
              <a:rPr lang="en-US" dirty="0"/>
              <a:t>	Our crime-samples were insignificant, with no real bearing on investment</a:t>
            </a:r>
          </a:p>
          <a:p>
            <a:r>
              <a:rPr lang="en-US" dirty="0"/>
              <a:t>Clustered vs. Non-clustered SEs:</a:t>
            </a:r>
          </a:p>
          <a:p>
            <a:pPr marL="914400" lvl="2" indent="0">
              <a:buNone/>
            </a:pPr>
            <a:r>
              <a:rPr lang="en-US" dirty="0"/>
              <a:t>Both clustered and non-clustered SEs had similar results, leaving the conclusion unchanged for both assumptions.</a:t>
            </a:r>
          </a:p>
        </p:txBody>
      </p:sp>
    </p:spTree>
    <p:extLst>
      <p:ext uri="{BB962C8B-B14F-4D97-AF65-F5344CB8AC3E}">
        <p14:creationId xmlns:p14="http://schemas.microsoft.com/office/powerpoint/2010/main" val="378782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FA29-61A0-6DBF-4BE0-2E195732A18E}"/>
              </a:ext>
            </a:extLst>
          </p:cNvPr>
          <p:cNvSpPr>
            <a:spLocks noGrp="1"/>
          </p:cNvSpPr>
          <p:nvPr>
            <p:ph type="title"/>
          </p:nvPr>
        </p:nvSpPr>
        <p:spPr/>
        <p:txBody>
          <a:bodyPr/>
          <a:lstStyle/>
          <a:p>
            <a:r>
              <a:rPr lang="en-US" dirty="0"/>
              <a:t>Limitations &amp; Caveats</a:t>
            </a:r>
          </a:p>
        </p:txBody>
      </p:sp>
      <p:sp>
        <p:nvSpPr>
          <p:cNvPr id="3" name="Content Placeholder 2">
            <a:extLst>
              <a:ext uri="{FF2B5EF4-FFF2-40B4-BE49-F238E27FC236}">
                <a16:creationId xmlns:a16="http://schemas.microsoft.com/office/drawing/2014/main" id="{BA81858D-0A28-FBEC-1530-90B84F7B8FB4}"/>
              </a:ext>
            </a:extLst>
          </p:cNvPr>
          <p:cNvSpPr>
            <a:spLocks noGrp="1"/>
          </p:cNvSpPr>
          <p:nvPr>
            <p:ph idx="1"/>
          </p:nvPr>
        </p:nvSpPr>
        <p:spPr>
          <a:xfrm>
            <a:off x="838200" y="1825625"/>
            <a:ext cx="10515600" cy="4667250"/>
          </a:xfrm>
        </p:spPr>
        <p:txBody>
          <a:bodyPr>
            <a:normAutofit/>
          </a:bodyPr>
          <a:lstStyle/>
          <a:p>
            <a:r>
              <a:rPr lang="en-US" dirty="0"/>
              <a:t>Omitted Variables (Major drivers missing):</a:t>
            </a:r>
          </a:p>
          <a:p>
            <a:pPr marL="0" indent="0">
              <a:buNone/>
            </a:pPr>
            <a:r>
              <a:rPr lang="en-US" sz="2400" dirty="0"/>
              <a:t>	</a:t>
            </a:r>
            <a:r>
              <a:rPr lang="en-US" sz="2000" dirty="0"/>
              <a:t>A lack of variables like GDP growth, interest rates, trade openness, and tax policy 	limited our analysis.</a:t>
            </a:r>
          </a:p>
          <a:p>
            <a:r>
              <a:rPr lang="en-US" dirty="0"/>
              <a:t>Measurement Error:</a:t>
            </a:r>
          </a:p>
          <a:p>
            <a:pPr marL="457200" lvl="1" indent="0">
              <a:buNone/>
            </a:pPr>
            <a:r>
              <a:rPr lang="en-US" dirty="0"/>
              <a:t>	</a:t>
            </a:r>
            <a:r>
              <a:rPr lang="en-US" sz="2000" dirty="0"/>
              <a:t>Our data is based on different forms of measurement, from more social 	measurements to broad datapoints</a:t>
            </a:r>
          </a:p>
          <a:p>
            <a:r>
              <a:rPr lang="en-US" dirty="0"/>
              <a:t>External Validity:</a:t>
            </a:r>
          </a:p>
          <a:p>
            <a:pPr marL="914400" lvl="2" indent="0">
              <a:buNone/>
            </a:pPr>
            <a:r>
              <a:rPr lang="en-US" dirty="0"/>
              <a:t>Only 20 Countries with complete overlap means that our results may not generalize for other periods or untested regions</a:t>
            </a:r>
          </a:p>
          <a:p>
            <a:r>
              <a:rPr lang="en-US" dirty="0"/>
              <a:t>Endogeneity:</a:t>
            </a:r>
          </a:p>
          <a:p>
            <a:pPr marL="914400" lvl="2" indent="0">
              <a:buNone/>
            </a:pPr>
            <a:r>
              <a:rPr lang="en-US" dirty="0"/>
              <a:t>Analyzing only the effect of corruption on investment does not approach how FDI could improve governance</a:t>
            </a:r>
          </a:p>
        </p:txBody>
      </p:sp>
    </p:spTree>
    <p:extLst>
      <p:ext uri="{BB962C8B-B14F-4D97-AF65-F5344CB8AC3E}">
        <p14:creationId xmlns:p14="http://schemas.microsoft.com/office/powerpoint/2010/main" val="2284225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730F-C358-9967-00DC-5F0ADDFE0E7B}"/>
              </a:ext>
            </a:extLst>
          </p:cNvPr>
          <p:cNvSpPr>
            <a:spLocks noGrp="1"/>
          </p:cNvSpPr>
          <p:nvPr>
            <p:ph type="title"/>
          </p:nvPr>
        </p:nvSpPr>
        <p:spPr/>
        <p:txBody>
          <a:bodyPr/>
          <a:lstStyle/>
          <a:p>
            <a:r>
              <a:rPr lang="en-US" dirty="0"/>
              <a:t>What happened to the crime data?</a:t>
            </a:r>
          </a:p>
        </p:txBody>
      </p:sp>
      <p:sp>
        <p:nvSpPr>
          <p:cNvPr id="3" name="Content Placeholder 2">
            <a:extLst>
              <a:ext uri="{FF2B5EF4-FFF2-40B4-BE49-F238E27FC236}">
                <a16:creationId xmlns:a16="http://schemas.microsoft.com/office/drawing/2014/main" id="{64752503-69C0-E314-7427-651A62E3AC9E}"/>
              </a:ext>
            </a:extLst>
          </p:cNvPr>
          <p:cNvSpPr>
            <a:spLocks noGrp="1"/>
          </p:cNvSpPr>
          <p:nvPr>
            <p:ph idx="1"/>
          </p:nvPr>
        </p:nvSpPr>
        <p:spPr/>
        <p:txBody>
          <a:bodyPr/>
          <a:lstStyle/>
          <a:p>
            <a:r>
              <a:rPr lang="en-US" dirty="0"/>
              <a:t>The crime data was considered time-invariant within individual countries, without considerable change between years</a:t>
            </a:r>
          </a:p>
          <a:p>
            <a:pPr marL="457200" lvl="1" indent="0">
              <a:buNone/>
            </a:pPr>
            <a:r>
              <a:rPr lang="en-US" dirty="0"/>
              <a:t>As we ran our regression, it was absorbed by the other time-invariant differences, and as such obtained a VIF of 6.56, meaning that the model failed to estimate the impact of crime on FDI.</a:t>
            </a:r>
          </a:p>
          <a:p>
            <a:endParaRPr lang="en-US" dirty="0"/>
          </a:p>
          <a:p>
            <a:r>
              <a:rPr lang="en-US" dirty="0"/>
              <a:t>Our solution to this issue was to exclude it from the main analysis</a:t>
            </a:r>
          </a:p>
          <a:p>
            <a:pPr marL="457200" lvl="1" indent="0">
              <a:buNone/>
            </a:pPr>
            <a:r>
              <a:rPr lang="en-US" dirty="0"/>
              <a:t>However, we kept it in our robustness checks and the Random Forest. </a:t>
            </a:r>
          </a:p>
          <a:p>
            <a:pPr marL="457200" lvl="1" indent="0">
              <a:buNone/>
            </a:pPr>
            <a:endParaRPr lang="en-US" dirty="0"/>
          </a:p>
        </p:txBody>
      </p:sp>
    </p:spTree>
    <p:extLst>
      <p:ext uri="{BB962C8B-B14F-4D97-AF65-F5344CB8AC3E}">
        <p14:creationId xmlns:p14="http://schemas.microsoft.com/office/powerpoint/2010/main" val="3477206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5560-5E33-BC94-1C8A-95CF479942E5}"/>
              </a:ext>
            </a:extLst>
          </p:cNvPr>
          <p:cNvSpPr>
            <a:spLocks noGrp="1"/>
          </p:cNvSpPr>
          <p:nvPr>
            <p:ph type="title"/>
          </p:nvPr>
        </p:nvSpPr>
        <p:spPr/>
        <p:txBody>
          <a:bodyPr/>
          <a:lstStyle/>
          <a:p>
            <a:r>
              <a:rPr lang="en-US" dirty="0"/>
              <a:t>Our Conclusions</a:t>
            </a:r>
          </a:p>
        </p:txBody>
      </p:sp>
      <p:sp>
        <p:nvSpPr>
          <p:cNvPr id="3" name="Content Placeholder 2">
            <a:extLst>
              <a:ext uri="{FF2B5EF4-FFF2-40B4-BE49-F238E27FC236}">
                <a16:creationId xmlns:a16="http://schemas.microsoft.com/office/drawing/2014/main" id="{9A018206-353C-5B38-3D0C-7EB5C7028076}"/>
              </a:ext>
            </a:extLst>
          </p:cNvPr>
          <p:cNvSpPr>
            <a:spLocks noGrp="1"/>
          </p:cNvSpPr>
          <p:nvPr>
            <p:ph idx="1"/>
          </p:nvPr>
        </p:nvSpPr>
        <p:spPr/>
        <p:txBody>
          <a:bodyPr>
            <a:normAutofit/>
          </a:bodyPr>
          <a:lstStyle/>
          <a:p>
            <a:r>
              <a:rPr lang="en-US" dirty="0"/>
              <a:t>Main finding: Corruption (CPI) effect on FDI is not statistically significant</a:t>
            </a:r>
          </a:p>
          <a:p>
            <a:endParaRPr lang="en-US" dirty="0"/>
          </a:p>
          <a:p>
            <a:r>
              <a:rPr lang="en-US" dirty="0"/>
              <a:t>Policy Implication:</a:t>
            </a:r>
          </a:p>
          <a:p>
            <a:pPr marL="457200" lvl="1" indent="0">
              <a:buNone/>
            </a:pPr>
            <a:r>
              <a:rPr lang="en-US" dirty="0"/>
              <a:t>Corruption reform matters for governance, but FDI also depends on macroeconomic stability, uncertainty, and larger institutions, meaning that anti-corruption actions alone will not greatly improve foreign investment</a:t>
            </a:r>
          </a:p>
          <a:p>
            <a:r>
              <a:rPr lang="en-US" dirty="0"/>
              <a:t>Methodological Learning:</a:t>
            </a:r>
          </a:p>
          <a:p>
            <a:pPr marL="457200" lvl="1" indent="0">
              <a:buNone/>
            </a:pPr>
            <a:r>
              <a:rPr lang="en-US" dirty="0"/>
              <a:t>Criminal data collected but was inapplicable in FE framework and we had a limited causal lag when compared to correlative lag</a:t>
            </a:r>
          </a:p>
        </p:txBody>
      </p:sp>
    </p:spTree>
    <p:extLst>
      <p:ext uri="{BB962C8B-B14F-4D97-AF65-F5344CB8AC3E}">
        <p14:creationId xmlns:p14="http://schemas.microsoft.com/office/powerpoint/2010/main" val="319419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0990-7F30-8658-3E2B-1AB752D140BC}"/>
              </a:ext>
            </a:extLst>
          </p:cNvPr>
          <p:cNvSpPr>
            <a:spLocks noGrp="1"/>
          </p:cNvSpPr>
          <p:nvPr>
            <p:ph type="title"/>
          </p:nvPr>
        </p:nvSpPr>
        <p:spPr/>
        <p:txBody>
          <a:bodyPr/>
          <a:lstStyle/>
          <a:p>
            <a:r>
              <a:rPr lang="en-US" dirty="0"/>
              <a:t>Recommendations for Future Work</a:t>
            </a:r>
          </a:p>
        </p:txBody>
      </p:sp>
      <p:sp>
        <p:nvSpPr>
          <p:cNvPr id="3" name="Content Placeholder 2">
            <a:extLst>
              <a:ext uri="{FF2B5EF4-FFF2-40B4-BE49-F238E27FC236}">
                <a16:creationId xmlns:a16="http://schemas.microsoft.com/office/drawing/2014/main" id="{176B45FC-1138-DB7D-6A1A-98F812D3BD97}"/>
              </a:ext>
            </a:extLst>
          </p:cNvPr>
          <p:cNvSpPr>
            <a:spLocks noGrp="1"/>
          </p:cNvSpPr>
          <p:nvPr>
            <p:ph idx="1"/>
          </p:nvPr>
        </p:nvSpPr>
        <p:spPr/>
        <p:txBody>
          <a:bodyPr>
            <a:normAutofit/>
          </a:bodyPr>
          <a:lstStyle/>
          <a:p>
            <a:r>
              <a:rPr lang="en-US" dirty="0"/>
              <a:t>Extend our length of time:</a:t>
            </a:r>
          </a:p>
          <a:p>
            <a:pPr marL="457200" lvl="1" indent="0">
              <a:buNone/>
            </a:pPr>
            <a:r>
              <a:rPr lang="en-US" dirty="0"/>
              <a:t>Our short timespan, limited by the youth of several of our data sources, greatly impacted our ability to implement greater lags and gave us small amounts of data to work with.</a:t>
            </a:r>
          </a:p>
          <a:p>
            <a:r>
              <a:rPr lang="en-US" dirty="0"/>
              <a:t>Add macroeconomic controls:</a:t>
            </a:r>
          </a:p>
          <a:p>
            <a:pPr marL="457200" lvl="1" indent="0">
              <a:buNone/>
            </a:pPr>
            <a:r>
              <a:rPr lang="en-US" dirty="0"/>
              <a:t>Including controls like GDP growth or exchange rates would allow a greater analysis of the economy and what exactly causes it to change, also giving us a greater insight into how corruption could affect economies.</a:t>
            </a:r>
          </a:p>
          <a:p>
            <a:r>
              <a:rPr lang="en-US" dirty="0"/>
              <a:t>Alternative methods:</a:t>
            </a:r>
          </a:p>
          <a:p>
            <a:pPr marL="457200" lvl="1" indent="0">
              <a:buNone/>
            </a:pPr>
            <a:r>
              <a:rPr lang="en-US" dirty="0"/>
              <a:t>Using instrumental variables and running random effects models to estimate crime effect could be different ways to approach our question.</a:t>
            </a:r>
          </a:p>
          <a:p>
            <a:r>
              <a:rPr lang="en-US" dirty="0"/>
              <a:t>Qualitative Research:</a:t>
            </a:r>
          </a:p>
          <a:p>
            <a:pPr marL="457200" lvl="1" indent="0">
              <a:buNone/>
            </a:pPr>
            <a:r>
              <a:rPr lang="en-US" dirty="0"/>
              <a:t>If possible, interviewing multiple investors on how corruption affects FDI could provide insights.</a:t>
            </a:r>
          </a:p>
        </p:txBody>
      </p:sp>
    </p:spTree>
    <p:extLst>
      <p:ext uri="{BB962C8B-B14F-4D97-AF65-F5344CB8AC3E}">
        <p14:creationId xmlns:p14="http://schemas.microsoft.com/office/powerpoint/2010/main" val="4087357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7DB8D-26D4-0DAA-41D1-D5D17D1F1BD5}"/>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414C57A6-5476-35BD-F476-5F0E92BC2BB5}"/>
              </a:ext>
            </a:extLst>
          </p:cNvPr>
          <p:cNvSpPr>
            <a:spLocks noGrp="1"/>
          </p:cNvSpPr>
          <p:nvPr>
            <p:ph idx="1"/>
          </p:nvPr>
        </p:nvSpPr>
        <p:spPr/>
        <p:txBody>
          <a:bodyPr>
            <a:normAutofit/>
          </a:bodyPr>
          <a:lstStyle/>
          <a:p>
            <a:r>
              <a:rPr lang="en-US" dirty="0"/>
              <a:t>What we learned:</a:t>
            </a:r>
          </a:p>
          <a:p>
            <a:pPr marL="457200" lvl="1" indent="0">
              <a:buNone/>
            </a:pPr>
            <a:r>
              <a:rPr lang="en-US" dirty="0"/>
              <a:t>From M2, it appears that corruption matters qualitatively for investor confidence, but M3 proves that it is not a major causal force in the time span of our analysis</a:t>
            </a:r>
          </a:p>
          <a:p>
            <a:r>
              <a:rPr lang="en-US" dirty="0"/>
              <a:t>Why?</a:t>
            </a:r>
          </a:p>
          <a:p>
            <a:pPr marL="457200" lvl="1" indent="0">
              <a:buNone/>
            </a:pPr>
            <a:r>
              <a:rPr lang="en-US" dirty="0"/>
              <a:t>Missing macro drivers and our inability to test the lag shown in M2 could both have poorly affected our findings.</a:t>
            </a:r>
          </a:p>
          <a:p>
            <a:r>
              <a:rPr lang="en-US" dirty="0"/>
              <a:t>Next steps:</a:t>
            </a:r>
          </a:p>
          <a:p>
            <a:pPr marL="457200" lvl="1" indent="0">
              <a:buNone/>
            </a:pPr>
            <a:r>
              <a:rPr lang="en-US" dirty="0"/>
              <a:t>Getting longer data and macro controls might allow us to analyze the causal question with more confidence, showing that our data could be an exploratory foundation of how corruption affects investment.</a:t>
            </a:r>
          </a:p>
        </p:txBody>
      </p:sp>
    </p:spTree>
    <p:extLst>
      <p:ext uri="{BB962C8B-B14F-4D97-AF65-F5344CB8AC3E}">
        <p14:creationId xmlns:p14="http://schemas.microsoft.com/office/powerpoint/2010/main" val="46022162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E7350A72A823C4A9FA135C1E26BCD94" ma:contentTypeVersion="6" ma:contentTypeDescription="Create a new document." ma:contentTypeScope="" ma:versionID="5ee8bd353235c1d8c93ca5bc2a0a02bf">
  <xsd:schema xmlns:xsd="http://www.w3.org/2001/XMLSchema" xmlns:xs="http://www.w3.org/2001/XMLSchema" xmlns:p="http://schemas.microsoft.com/office/2006/metadata/properties" xmlns:ns3="f362ca54-6aab-4208-abc1-f727ee30f3c8" targetNamespace="http://schemas.microsoft.com/office/2006/metadata/properties" ma:root="true" ma:fieldsID="7e019dbbb0fb8d4059b5efdcc050d308" ns3:_="">
    <xsd:import namespace="f362ca54-6aab-4208-abc1-f727ee30f3c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62ca54-6aab-4208-abc1-f727ee30f3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362ca54-6aab-4208-abc1-f727ee30f3c8" xsi:nil="true"/>
  </documentManagement>
</p:properties>
</file>

<file path=customXml/itemProps1.xml><?xml version="1.0" encoding="utf-8"?>
<ds:datastoreItem xmlns:ds="http://schemas.openxmlformats.org/officeDocument/2006/customXml" ds:itemID="{00DC22F5-4F7C-4DCB-8661-6B1C632A8776}">
  <ds:schemaRefs>
    <ds:schemaRef ds:uri="http://schemas.microsoft.com/sharepoint/v3/contenttype/forms"/>
  </ds:schemaRefs>
</ds:datastoreItem>
</file>

<file path=customXml/itemProps2.xml><?xml version="1.0" encoding="utf-8"?>
<ds:datastoreItem xmlns:ds="http://schemas.openxmlformats.org/officeDocument/2006/customXml" ds:itemID="{DAAE5961-32B2-4A5B-8B86-9D888C0E20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62ca54-6aab-4208-abc1-f727ee30f3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52070A-82C5-4598-9F22-EB9DCD3103E6}">
  <ds:schemaRefs>
    <ds:schemaRef ds:uri="http://schemas.microsoft.com/office/2006/documentManagement/types"/>
    <ds:schemaRef ds:uri="f362ca54-6aab-4208-abc1-f727ee30f3c8"/>
    <ds:schemaRef ds:uri="http://schemas.microsoft.com/office/2006/metadata/properties"/>
    <ds:schemaRef ds:uri="http://purl.org/dc/dcmitype/"/>
    <ds:schemaRef ds:uri="http://schemas.openxmlformats.org/package/2006/metadata/core-properties"/>
    <ds:schemaRef ds:uri="http://www.w3.org/XML/1998/namespace"/>
    <ds:schemaRef ds:uri="http://purl.org/dc/elements/1.1/"/>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Retrospect</Template>
  <TotalTime>131</TotalTime>
  <Words>1021</Words>
  <Application>Microsoft Office PowerPoint</Application>
  <PresentationFormat>Widescreen</PresentationFormat>
  <Paragraphs>101</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Calibri Light</vt:lpstr>
      <vt:lpstr>Retrospect</vt:lpstr>
      <vt:lpstr>Corruption, Risk, &amp; Foreign Investment</vt:lpstr>
      <vt:lpstr>Research Question</vt:lpstr>
      <vt:lpstr> Data Sources </vt:lpstr>
      <vt:lpstr>M2: Exploratory Data Analysis</vt:lpstr>
      <vt:lpstr>M3: Econometric Specification</vt:lpstr>
      <vt:lpstr>M3 Primary Findings</vt:lpstr>
      <vt:lpstr>Possible Instability: 2020 Pandemic Shock</vt:lpstr>
      <vt:lpstr>Robustness Checks</vt:lpstr>
      <vt:lpstr>Limitations &amp; Caveats</vt:lpstr>
      <vt:lpstr>What happened to the crime data?</vt:lpstr>
      <vt:lpstr>Our Conclusions</vt:lpstr>
      <vt:lpstr>Recommendations for Future Work</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Cowan, Daemian</dc:creator>
  <cp:lastModifiedBy>Cowan, Daemian</cp:lastModifiedBy>
  <cp:revision>2</cp:revision>
  <dcterms:created xsi:type="dcterms:W3CDTF">2026-05-01T13:59:55Z</dcterms:created>
  <dcterms:modified xsi:type="dcterms:W3CDTF">2026-05-01T16:20:43Z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0x010100FE7350A72A823C4A9FA135C1E26BCD94</vt:lpwstr>
  </property>
</Properties>
</file>