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ECF0F1"/>
                </a:solidFill>
              </a:defRPr>
            </a:pPr>
            <a:r>
              <a:t>Corruption, Crime, and Foreign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BDC3C7"/>
                </a:solidFill>
              </a:defRPr>
            </a:pPr>
            <a:r>
              <a:t>QM 2023 Capstone Project</a:t>
            </a:r>
            <a:br/>
            <a:r>
              <a:t>Arjun • Daemian • Kade • Isidro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Research Question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How does perceived corruption and crime of a country affect foreign direct investment?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Key Variables: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Corruption Perceptions Index (CPI) – Transparency International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Crime Index – Numbeo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Geopolitical Economic Policy Uncertainty (GEPU)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• Foreign Direct Investment (FDI) – World Bank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Sample: 20 countries, 2012–2025 (237 country-year observations)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Hypotheses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H1: As corruption increases, foreign investment decreases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H2: Crime rates have a measurable impact on economic uncertainty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H3: Perceived corruption (CPI) is the biggest determinant of FDI among our chosen factors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Expected mechanism: Investors respond to governance quality and institutional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Data Sources &amp; Quality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Crime Index: Numbeo (https://www.numbeo.com/crime/)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Foreign Direct Investment: World Bank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(https://data.worldbank.org/indicator/BX.KLT.DINV.CD.WD)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Corruption Perceptions Index: Transparency International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(https://www.transparency.org)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Geopolitical Uncertainty: Policy Uncertainty Index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(https://www.policyuncertainty.com)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All data: Annual frequency, 2012–2025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M2: Exploratory Data Analysis Findings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Weak negative correlation (r = -0.14) between FDI and CPI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↳ Makes intuitive sense: higher corruption → lower investment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Optimal lag: 12 years (captures longer-term investment relationships)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Most sensitive countries: Singapore, Sweden, Ireland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↳ Changes in CPI have outsized impact on FDI perceptions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⚠ China identified as outlier with atypical investment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Seasonal patterns evident in time series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Methodology: Model A (Econometric)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Two-Way Fixed Effects Model (Required approach)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Outcome: log(|FDI|) – signed log transform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Key driver: CPI score (lagged)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Controls: Crime Index, Geopolitical Uncertainty (GEPU)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Fixed effects: Country and 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SEs: Clustered by country to account for within-country correlation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Model A: Main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CPI Score (lagged 1-year):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Coefficient: -0.1135   |   p-value: 0.4238   |   NOT significant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GEPU (Geopolitical Uncertainty):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Coefficient: -0.0159   |   p-value: 0.1876   |   NOT significant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Model Fit: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Within R²: 0.0149 (low explanatory power)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F-test p-value: 0.1832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⚠ Interpretation: CPI effect is small and not statistically robust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Model B: Machine Learning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Does Random Forest better predict FDI than OLS?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Out-of-sample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OLS:           RMSE = 15.42   |   R² = -0.053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Random Forest: RMSE = 14.64   |   R² = 0.052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Verdict: Modest improvement (~5% RMSE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Trade-off: RF better for prediction but less interpretable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Prefer OLS for causal inference about corruption effects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Diagnostics &amp; Robustness Checks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Heteroskedasticity (Breusch-Pagan):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p-value: 0.056 → Slight evidence, but marginal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Use of clustered SEs justified as conservative approach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Multicollinearity: Controlled, VIF values acceptable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Robustness tests: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• Alternative lags (1, 2, 3 years) → Unstable effects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• Exclude 2020 → Coefficients change meaningfully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• Crime-based subsamples → No stable pattern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Policy Recommendations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1. Prioritize BROAD investment-climate reforms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↳ CPI alone is insufficient; must improve contract enforcement,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   regulatory consistency, and transparency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2. Address uncertainty and risk in high-crime environments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↳ Offer political-risk insurance, faster permitting, security measures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3. Expect gradual, not immediate, FDI responses to reforms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↳ Institutional trust builds over time (explains 12-year optimal lag)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4. Monitor scenario outcomes (Baseline, Improvement, Stress)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Limitations &amp;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Small sample: Only 20 countries with complete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Omitted variables: GDP growth, exchange rates, tax policy, trade openness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Endogeneity: Does FDI drive corruption reforms, or vice versa?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Measurement: CPI is perception-based; crime data are survey estimates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Crisis sensitivity: Results sensitive to 2020 inclusion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Generalizability: Cannot confidently apply to countries outside sample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Future Research Directions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Add macro controls: GDP growth, inflation, sovereign debt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Test heterogeneous effects by region, income group, or sector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Extend sample: More countries and longer time periods for power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Explore nonlinearities: Does corruption matter more above a threshold?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Investigate causal pathways: Mediation analysis through institutional channels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Alternative governance measures: World Bank GEI, Rule of Law Index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Finding: Weak statistical relationship between CPI and FDI in this sample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Key takeaway: FDI is driven by broader risk environment, not corruption alone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Policy insight: Multi-dimensional reform strategy more effective than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anti-corruption focus in isolation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Data-driven recommendation: Invest in uncertainty reduction and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institutional credibility alongside corruption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Next step: Expand sample and incorporate additional institutional variables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